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Architektura aplikacji Nieobecności. Przepływ: przeglądarka (6 ról) → frontend React → API NestJS za guardem JWT/RBAC → PostgreSQL przez Prisma. Silnik wyliczeń w packages/core jest wydzielony jako czyste funkcje bez zależności i używany przez API — tam leżą reguły okresów rozliczeniowych UoP vs B2B, dni robocze, balans i capacity, pokryte 27 testami. Ochrona L4 jako danej o zdrowiu (art. 9 RODO) jest egzekwowana po stronie serwera: znacznik widzi tylko rola uprawniona, a każdy odczyt trafia do audytu.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Stack technologiczny. TypeScript od bazy po interfejs — te same typy i narzędzia w trzech pakietach monorepo. Wybory podyktowane skalą: PostgreSQL zamiast plików, bo MVCC daje równoczesny zapis bez blokad; NestJS, bo moduły odwzorowują epiki z backlogu; Prisma po typy generowane ze schematu. Silnik wyliczeń w packages/core nie ma ani jednej zależności produkcyjnej. Świadomie pominięto WebSockety, Redis, mikroserwisy i integracje zewnętrzne — każde z nich da się dołożyć bez przebudowy, gdy pojawi się realna potrzeba.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8595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0A2E2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Architektura aplikacji „Nieobecności”</a:t>
            </a:r>
            <a:endParaRPr lang="en-US" sz="2900" dirty="0"/>
          </a:p>
        </p:txBody>
      </p:sp>
      <p:sp>
        <p:nvSpPr>
          <p:cNvPr id="3" name="Text 1"/>
          <p:cNvSpPr/>
          <p:nvPr/>
        </p:nvSpPr>
        <p:spPr>
          <a:xfrm>
            <a:off x="548640" y="859536"/>
            <a:ext cx="8595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F72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TypeScript end-to-end · monorepo pnpm · wdrożenie on-premise · ~300 użytkowników, 6 zespołów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548640" y="1170432"/>
            <a:ext cx="6858000" cy="566928"/>
          </a:xfrm>
          <a:prstGeom prst="roundRect">
            <a:avLst>
              <a:gd name="adj" fmla="val 8065"/>
            </a:avLst>
          </a:prstGeom>
          <a:solidFill>
            <a:srgbClr val="F3F7F5"/>
          </a:solidFill>
          <a:ln w="12700">
            <a:solidFill>
              <a:srgbClr val="DEE8E3"/>
            </a:solidFill>
            <a:prstDash val="solid"/>
          </a:ln>
          <a:effectLst>
            <a:outerShdw sx="100000" sy="100000" kx="0" ky="0" algn="bl" rotWithShape="0" blurRad="76200" dist="12700" dir="5400000">
              <a:srgbClr val="BFCFC8">
                <a:alpha val="4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94944" y="1280160"/>
            <a:ext cx="603504" cy="246888"/>
          </a:xfrm>
          <a:prstGeom prst="roundRect">
            <a:avLst>
              <a:gd name="adj" fmla="val 22222"/>
            </a:avLst>
          </a:prstGeom>
          <a:solidFill>
            <a:srgbClr val="007A53"/>
          </a:solidFill>
          <a:ln w="12700">
            <a:solidFill>
              <a:srgbClr val="007A5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94944" y="1280160"/>
            <a:ext cx="603504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408176" y="1225296"/>
            <a:ext cx="5852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624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Pracownik · PO · Lider · Dyrektor · PMO · Administrator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1408176" y="1444752"/>
            <a:ext cx="5852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F72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Nawigacja, pickery i zakres danych zawężone do uprawnień zalogowanego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977640" y="1755648"/>
            <a:ext cx="0" cy="164592"/>
          </a:xfrm>
          <a:prstGeom prst="line">
            <a:avLst/>
          </a:prstGeom>
          <a:noFill/>
          <a:ln w="22225">
            <a:solidFill>
              <a:srgbClr val="9BB0A7"/>
            </a:solidFill>
            <a:prstDash val="solid"/>
            <a:tailEnd type="triangle"/>
          </a:ln>
        </p:spPr>
      </p:sp>
      <p:sp>
        <p:nvSpPr>
          <p:cNvPr id="10" name="Shape 8"/>
          <p:cNvSpPr/>
          <p:nvPr/>
        </p:nvSpPr>
        <p:spPr>
          <a:xfrm>
            <a:off x="548640" y="1956816"/>
            <a:ext cx="6858000" cy="1042416"/>
          </a:xfrm>
          <a:prstGeom prst="roundRect">
            <a:avLst>
              <a:gd name="adj" fmla="val 4386"/>
            </a:avLst>
          </a:prstGeom>
          <a:solidFill>
            <a:srgbClr val="F3F7F5"/>
          </a:solidFill>
          <a:ln w="12700">
            <a:solidFill>
              <a:srgbClr val="DEE8E3"/>
            </a:solidFill>
            <a:prstDash val="solid"/>
          </a:ln>
          <a:effectLst>
            <a:outerShdw sx="100000" sy="100000" kx="0" ky="0" algn="bl" rotWithShape="0" blurRad="76200" dist="12700" dir="5400000">
              <a:srgbClr val="BFCFC8">
                <a:alpha val="45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694944" y="2084832"/>
            <a:ext cx="603504" cy="246888"/>
          </a:xfrm>
          <a:prstGeom prst="roundRect">
            <a:avLst>
              <a:gd name="adj" fmla="val 22222"/>
            </a:avLst>
          </a:prstGeom>
          <a:solidFill>
            <a:srgbClr val="007A53"/>
          </a:solidFill>
          <a:ln w="12700">
            <a:solidFill>
              <a:srgbClr val="007A53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94944" y="2084832"/>
            <a:ext cx="603504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1408176" y="2048256"/>
            <a:ext cx="5852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A2E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apps/web — React + Vite + TypeScript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1408176" y="2304288"/>
            <a:ext cx="5852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F72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ekranów · react-router · design system przeniesiony z prototypu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F72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Archivo + IBM Plex Mono, ikony Lucide, tryb jasny/ciemny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3977640" y="3017520"/>
            <a:ext cx="0" cy="164592"/>
          </a:xfrm>
          <a:prstGeom prst="line">
            <a:avLst/>
          </a:prstGeom>
          <a:noFill/>
          <a:ln w="22225">
            <a:solidFill>
              <a:srgbClr val="9BB0A7"/>
            </a:solidFill>
            <a:prstDash val="solid"/>
            <a:tailEnd type="triangle"/>
          </a:ln>
        </p:spPr>
      </p:sp>
      <p:sp>
        <p:nvSpPr>
          <p:cNvPr id="16" name="Text 14"/>
          <p:cNvSpPr/>
          <p:nvPr/>
        </p:nvSpPr>
        <p:spPr>
          <a:xfrm>
            <a:off x="4105656" y="2999232"/>
            <a:ext cx="2377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5F72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HTTP / JSON  ·  Bearer JWT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548640" y="3218688"/>
            <a:ext cx="6858000" cy="1865376"/>
          </a:xfrm>
          <a:prstGeom prst="roundRect">
            <a:avLst>
              <a:gd name="adj" fmla="val 2451"/>
            </a:avLst>
          </a:prstGeom>
          <a:solidFill>
            <a:srgbClr val="F3F7F5"/>
          </a:solidFill>
          <a:ln w="12700">
            <a:solidFill>
              <a:srgbClr val="DEE8E3"/>
            </a:solidFill>
            <a:prstDash val="solid"/>
          </a:ln>
          <a:effectLst>
            <a:outerShdw sx="100000" sy="100000" kx="0" ky="0" algn="bl" rotWithShape="0" blurRad="76200" dist="12700" dir="5400000">
              <a:srgbClr val="BFCFC8">
                <a:alpha val="45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694944" y="3346704"/>
            <a:ext cx="603504" cy="246888"/>
          </a:xfrm>
          <a:prstGeom prst="roundRect">
            <a:avLst>
              <a:gd name="adj" fmla="val 22222"/>
            </a:avLst>
          </a:prstGeom>
          <a:solidFill>
            <a:srgbClr val="007A53"/>
          </a:solidFill>
          <a:ln w="12700">
            <a:solidFill>
              <a:srgbClr val="007A53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94944" y="3346704"/>
            <a:ext cx="603504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1408176" y="3310128"/>
            <a:ext cx="5852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A2E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apps/api — NestJS + Prisma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694944" y="3639312"/>
            <a:ext cx="2042160" cy="1024128"/>
          </a:xfrm>
          <a:prstGeom prst="roundRect">
            <a:avLst>
              <a:gd name="adj" fmla="val 4464"/>
            </a:avLst>
          </a:prstGeom>
          <a:solidFill>
            <a:srgbClr val="FFFFFF"/>
          </a:solidFill>
          <a:ln w="12700">
            <a:solidFill>
              <a:srgbClr val="DEE8E3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804672" y="3712464"/>
            <a:ext cx="182270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07A5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Guard JWT + RBAC</a:t>
            </a:r>
            <a:endParaRPr lang="en-US" sz="1050" dirty="0"/>
          </a:p>
        </p:txBody>
      </p:sp>
      <p:sp>
        <p:nvSpPr>
          <p:cNvPr id="23" name="Text 21"/>
          <p:cNvSpPr/>
          <p:nvPr/>
        </p:nvSpPr>
        <p:spPr>
          <a:xfrm>
            <a:off x="804672" y="3950208"/>
            <a:ext cx="182270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950" dirty="0">
                <a:solidFill>
                  <a:srgbClr val="5F72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Hasła scrypt, helmet, throttler.</a:t>
            </a:r>
            <a:endParaRPr lang="en-US" sz="950" dirty="0"/>
          </a:p>
          <a:p>
            <a:pPr indent="0" marL="0">
              <a:lnSpc>
                <a:spcPct val="102000"/>
              </a:lnSpc>
              <a:buNone/>
            </a:pPr>
            <a:r>
              <a:rPr lang="en-US" sz="950" dirty="0">
                <a:solidFill>
                  <a:srgbClr val="5F72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ról + uprawnienia</a:t>
            </a:r>
            <a:endParaRPr lang="en-US" sz="950" dirty="0"/>
          </a:p>
          <a:p>
            <a:pPr indent="0" marL="0">
              <a:lnSpc>
                <a:spcPct val="102000"/>
              </a:lnSpc>
              <a:buNone/>
            </a:pPr>
            <a:r>
              <a:rPr lang="en-US" sz="950" dirty="0">
                <a:solidFill>
                  <a:srgbClr val="5F72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MODIFY_ABSENCE, VIEW_L4</a:t>
            </a:r>
            <a:endParaRPr lang="en-US" sz="950" dirty="0"/>
          </a:p>
        </p:txBody>
      </p:sp>
      <p:sp>
        <p:nvSpPr>
          <p:cNvPr id="24" name="Shape 22"/>
          <p:cNvSpPr/>
          <p:nvPr/>
        </p:nvSpPr>
        <p:spPr>
          <a:xfrm>
            <a:off x="2956560" y="3639312"/>
            <a:ext cx="2042160" cy="1024128"/>
          </a:xfrm>
          <a:prstGeom prst="roundRect">
            <a:avLst>
              <a:gd name="adj" fmla="val 4464"/>
            </a:avLst>
          </a:prstGeom>
          <a:solidFill>
            <a:srgbClr val="FFFFFF"/>
          </a:solidFill>
          <a:ln w="12700">
            <a:solidFill>
              <a:srgbClr val="DEE8E3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066288" y="3712464"/>
            <a:ext cx="182270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07A5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59 endpointów</a:t>
            </a:r>
            <a:endParaRPr lang="en-US" sz="1050" dirty="0"/>
          </a:p>
        </p:txBody>
      </p:sp>
      <p:sp>
        <p:nvSpPr>
          <p:cNvPr id="26" name="Text 24"/>
          <p:cNvSpPr/>
          <p:nvPr/>
        </p:nvSpPr>
        <p:spPr>
          <a:xfrm>
            <a:off x="3066288" y="3950208"/>
            <a:ext cx="182270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950" dirty="0">
                <a:solidFill>
                  <a:srgbClr val="5F72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 kontrolerów, walidacja DTO.</a:t>
            </a:r>
            <a:endParaRPr lang="en-US" sz="950" dirty="0"/>
          </a:p>
          <a:p>
            <a:pPr indent="0" marL="0">
              <a:lnSpc>
                <a:spcPct val="102000"/>
              </a:lnSpc>
              <a:buNone/>
            </a:pPr>
            <a:r>
              <a:rPr lang="en-US" sz="950" dirty="0">
                <a:solidFill>
                  <a:srgbClr val="5F72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Serializacja i zakres danych</a:t>
            </a:r>
            <a:endParaRPr lang="en-US" sz="950" dirty="0"/>
          </a:p>
          <a:p>
            <a:pPr indent="0" marL="0">
              <a:lnSpc>
                <a:spcPct val="102000"/>
              </a:lnSpc>
              <a:buNone/>
            </a:pPr>
            <a:r>
              <a:rPr lang="en-US" sz="950" dirty="0">
                <a:solidFill>
                  <a:srgbClr val="5F72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liczone per rola.</a:t>
            </a:r>
            <a:endParaRPr lang="en-US" sz="950" dirty="0"/>
          </a:p>
        </p:txBody>
      </p:sp>
      <p:sp>
        <p:nvSpPr>
          <p:cNvPr id="27" name="Shape 25"/>
          <p:cNvSpPr/>
          <p:nvPr/>
        </p:nvSpPr>
        <p:spPr>
          <a:xfrm>
            <a:off x="5218176" y="3639312"/>
            <a:ext cx="2042160" cy="1024128"/>
          </a:xfrm>
          <a:prstGeom prst="roundRect">
            <a:avLst>
              <a:gd name="adj" fmla="val 4464"/>
            </a:avLst>
          </a:prstGeom>
          <a:solidFill>
            <a:srgbClr val="FFFFFF"/>
          </a:solidFill>
          <a:ln w="12700">
            <a:solidFill>
              <a:srgbClr val="DEE8E3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5327904" y="3712464"/>
            <a:ext cx="182270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07A5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Serwisy domenowe</a:t>
            </a:r>
            <a:endParaRPr lang="en-US" sz="1050" dirty="0"/>
          </a:p>
        </p:txBody>
      </p:sp>
      <p:sp>
        <p:nvSpPr>
          <p:cNvPr id="29" name="Text 27"/>
          <p:cNvSpPr/>
          <p:nvPr/>
        </p:nvSpPr>
        <p:spPr>
          <a:xfrm>
            <a:off x="5327904" y="3950208"/>
            <a:ext cx="182270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950" dirty="0">
                <a:solidFill>
                  <a:srgbClr val="5F72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Balans, capacity, raporty,</a:t>
            </a:r>
            <a:endParaRPr lang="en-US" sz="950" dirty="0"/>
          </a:p>
          <a:p>
            <a:pPr indent="0" marL="0">
              <a:lnSpc>
                <a:spcPct val="102000"/>
              </a:lnSpc>
              <a:buNone/>
            </a:pPr>
            <a:r>
              <a:rPr lang="en-US" sz="950" dirty="0">
                <a:solidFill>
                  <a:srgbClr val="5F72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import/eksport, powiadomienia,</a:t>
            </a:r>
            <a:endParaRPr lang="en-US" sz="950" dirty="0"/>
          </a:p>
          <a:p>
            <a:pPr indent="0" marL="0">
              <a:lnSpc>
                <a:spcPct val="102000"/>
              </a:lnSpc>
              <a:buNone/>
            </a:pPr>
            <a:r>
              <a:rPr lang="en-US" sz="950" dirty="0">
                <a:solidFill>
                  <a:srgbClr val="5F72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retencja, scheduler (cron).</a:t>
            </a:r>
            <a:endParaRPr lang="en-US" sz="950" dirty="0"/>
          </a:p>
        </p:txBody>
      </p:sp>
      <p:sp>
        <p:nvSpPr>
          <p:cNvPr id="30" name="Text 28"/>
          <p:cNvSpPr/>
          <p:nvPr/>
        </p:nvSpPr>
        <p:spPr>
          <a:xfrm>
            <a:off x="694944" y="4736592"/>
            <a:ext cx="65653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9A5B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Ochrona L4 (art. 9 RODO): </a:t>
            </a:r>
            <a:pPr indent="0" marL="0">
              <a:buNone/>
            </a:pPr>
            <a:r>
              <a:rPr lang="en-US" sz="1000" dirty="0">
                <a:solidFill>
                  <a:srgbClr val="1624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znacznik czyta wyłącznie rola uprawniona, każdy odczyt trafia do dziennika audytu; eksporty i kanały iCal nie ujawniają typu.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3977640" y="5102352"/>
            <a:ext cx="0" cy="164592"/>
          </a:xfrm>
          <a:prstGeom prst="line">
            <a:avLst/>
          </a:prstGeom>
          <a:noFill/>
          <a:ln w="22225">
            <a:solidFill>
              <a:srgbClr val="9BB0A7"/>
            </a:solidFill>
            <a:prstDash val="solid"/>
            <a:tailEnd type="triangle"/>
          </a:ln>
        </p:spPr>
      </p:sp>
      <p:sp>
        <p:nvSpPr>
          <p:cNvPr id="32" name="Text 30"/>
          <p:cNvSpPr/>
          <p:nvPr/>
        </p:nvSpPr>
        <p:spPr>
          <a:xfrm>
            <a:off x="4105656" y="50840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5F72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Prisma ORM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548640" y="5303520"/>
            <a:ext cx="6858000" cy="731520"/>
          </a:xfrm>
          <a:prstGeom prst="roundRect">
            <a:avLst>
              <a:gd name="adj" fmla="val 6250"/>
            </a:avLst>
          </a:prstGeom>
          <a:solidFill>
            <a:srgbClr val="F3F7F5"/>
          </a:solidFill>
          <a:ln w="12700">
            <a:solidFill>
              <a:srgbClr val="DEE8E3"/>
            </a:solidFill>
            <a:prstDash val="solid"/>
          </a:ln>
          <a:effectLst>
            <a:outerShdw sx="100000" sy="100000" kx="0" ky="0" algn="bl" rotWithShape="0" blurRad="76200" dist="12700" dir="5400000">
              <a:srgbClr val="BFCFC8">
                <a:alpha val="45000"/>
              </a:srgbClr>
            </a:outerShdw>
          </a:effectLst>
        </p:spPr>
      </p:sp>
      <p:sp>
        <p:nvSpPr>
          <p:cNvPr id="34" name="Shape 32"/>
          <p:cNvSpPr/>
          <p:nvPr/>
        </p:nvSpPr>
        <p:spPr>
          <a:xfrm>
            <a:off x="694944" y="5449824"/>
            <a:ext cx="603504" cy="246888"/>
          </a:xfrm>
          <a:prstGeom prst="roundRect">
            <a:avLst>
              <a:gd name="adj" fmla="val 22222"/>
            </a:avLst>
          </a:prstGeom>
          <a:solidFill>
            <a:srgbClr val="31708A"/>
          </a:solidFill>
          <a:ln w="12700">
            <a:solidFill>
              <a:srgbClr val="31708A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94944" y="5449824"/>
            <a:ext cx="603504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DB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1408176" y="5394960"/>
            <a:ext cx="5852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A2E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PostgreSQL 16 — 13 modeli, 6 typów wyliczeniowych</a:t>
            </a:r>
            <a:endParaRPr lang="en-US" sz="1250" dirty="0"/>
          </a:p>
        </p:txBody>
      </p:sp>
      <p:sp>
        <p:nvSpPr>
          <p:cNvPr id="37" name="Text 35"/>
          <p:cNvSpPr/>
          <p:nvPr/>
        </p:nvSpPr>
        <p:spPr>
          <a:xfrm>
            <a:off x="1408176" y="5632704"/>
            <a:ext cx="5852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F72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MVCC — równoczesne zapisy bez blokad pliku, czyli to, czego nie dawał Excel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7772400" y="1170432"/>
            <a:ext cx="3840480" cy="2359152"/>
          </a:xfrm>
          <a:prstGeom prst="roundRect">
            <a:avLst>
              <a:gd name="adj" fmla="val 1938"/>
            </a:avLst>
          </a:prstGeom>
          <a:solidFill>
            <a:srgbClr val="F3F7F5"/>
          </a:solidFill>
          <a:ln w="12700">
            <a:solidFill>
              <a:srgbClr val="DEE8E3"/>
            </a:solidFill>
            <a:prstDash val="solid"/>
          </a:ln>
          <a:effectLst>
            <a:outerShdw sx="100000" sy="100000" kx="0" ky="0" algn="bl" rotWithShape="0" blurRad="76200" dist="12700" dir="5400000">
              <a:srgbClr val="BFCFC8">
                <a:alpha val="45000"/>
              </a:srgbClr>
            </a:outerShdw>
          </a:effectLst>
        </p:spPr>
      </p:sp>
      <p:sp>
        <p:nvSpPr>
          <p:cNvPr id="39" name="Shape 37"/>
          <p:cNvSpPr/>
          <p:nvPr/>
        </p:nvSpPr>
        <p:spPr>
          <a:xfrm>
            <a:off x="7918704" y="1298448"/>
            <a:ext cx="603504" cy="246888"/>
          </a:xfrm>
          <a:prstGeom prst="roundRect">
            <a:avLst>
              <a:gd name="adj" fmla="val 22222"/>
            </a:avLst>
          </a:prstGeom>
          <a:solidFill>
            <a:srgbClr val="007A53"/>
          </a:solidFill>
          <a:ln w="12700">
            <a:solidFill>
              <a:srgbClr val="007A53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7918704" y="1298448"/>
            <a:ext cx="603504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CORE</a:t>
            </a:r>
            <a:endParaRPr lang="en-US" sz="900" dirty="0"/>
          </a:p>
        </p:txBody>
      </p:sp>
      <p:sp>
        <p:nvSpPr>
          <p:cNvPr id="41" name="Text 39"/>
          <p:cNvSpPr/>
          <p:nvPr/>
        </p:nvSpPr>
        <p:spPr>
          <a:xfrm>
            <a:off x="8631936" y="1261872"/>
            <a:ext cx="2834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A2E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packages/core</a:t>
            </a:r>
            <a:endParaRPr lang="en-US" sz="1300" dirty="0"/>
          </a:p>
        </p:txBody>
      </p:sp>
      <p:sp>
        <p:nvSpPr>
          <p:cNvPr id="42" name="Text 40"/>
          <p:cNvSpPr/>
          <p:nvPr/>
        </p:nvSpPr>
        <p:spPr>
          <a:xfrm>
            <a:off x="7918704" y="1609344"/>
            <a:ext cx="35478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F72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Silnik wyliczeń — czyste funkcje, zero zależności, niezależny od frameworka.</a:t>
            </a:r>
            <a:endParaRPr lang="en-US" sz="1000" dirty="0"/>
          </a:p>
        </p:txBody>
      </p:sp>
      <p:sp>
        <p:nvSpPr>
          <p:cNvPr id="43" name="Text 41"/>
          <p:cNvSpPr/>
          <p:nvPr/>
        </p:nvSpPr>
        <p:spPr>
          <a:xfrm>
            <a:off x="7918704" y="2029968"/>
            <a:ext cx="3547872" cy="11338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50" b="1" dirty="0">
                <a:solidFill>
                  <a:srgbClr val="1624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resolveBillingPeriod</a:t>
            </a:r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5F72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UoP: rok kalendarzowy; B2B/OUT: budżetowy −1 mc</a:t>
            </a:r>
            <a:endParaRPr lang="en-US" sz="95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950" b="1" dirty="0">
                <a:solidFill>
                  <a:srgbClr val="1624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countWorkingDays</a:t>
            </a:r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5F72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weekendy + kalendarz świąt osoby</a:t>
            </a:r>
            <a:endParaRPr lang="en-US" sz="95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950" b="1" dirty="0">
                <a:solidFill>
                  <a:srgbClr val="1624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balance · usedLeaveDays</a:t>
            </a:r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5F72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pula, zaległe, wykorzystane</a:t>
            </a:r>
            <a:endParaRPr lang="en-US" sz="95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950" b="1" dirty="0">
                <a:solidFill>
                  <a:srgbClr val="1624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sprintCapacity</a:t>
            </a:r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5F72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osobodni squadu w sprincie</a:t>
            </a:r>
            <a:endParaRPr lang="en-US" sz="95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950" b="1" dirty="0">
                <a:solidFill>
                  <a:srgbClr val="1624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proratePool · dayFraction · toICS</a:t>
            </a:r>
            <a:endParaRPr lang="en-US" sz="950" dirty="0"/>
          </a:p>
        </p:txBody>
      </p:sp>
      <p:sp>
        <p:nvSpPr>
          <p:cNvPr id="44" name="Text 42"/>
          <p:cNvSpPr/>
          <p:nvPr/>
        </p:nvSpPr>
        <p:spPr>
          <a:xfrm>
            <a:off x="7918704" y="3200400"/>
            <a:ext cx="35478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007A5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 testów jednostkowych — tu leży warunek akceptacji</a:t>
            </a:r>
            <a:endParaRPr lang="en-US" sz="950" dirty="0"/>
          </a:p>
        </p:txBody>
      </p:sp>
      <p:sp>
        <p:nvSpPr>
          <p:cNvPr id="45" name="Shape 43"/>
          <p:cNvSpPr/>
          <p:nvPr/>
        </p:nvSpPr>
        <p:spPr>
          <a:xfrm>
            <a:off x="7406640" y="3383280"/>
            <a:ext cx="365760" cy="0"/>
          </a:xfrm>
          <a:prstGeom prst="line">
            <a:avLst/>
          </a:prstGeom>
          <a:noFill/>
          <a:ln w="19050">
            <a:solidFill>
              <a:srgbClr val="9BB0A7"/>
            </a:solidFill>
            <a:prstDash val="dash"/>
            <a:headEnd type="triangle"/>
          </a:ln>
        </p:spPr>
      </p:sp>
      <p:sp>
        <p:nvSpPr>
          <p:cNvPr id="46" name="Shape 44"/>
          <p:cNvSpPr/>
          <p:nvPr/>
        </p:nvSpPr>
        <p:spPr>
          <a:xfrm>
            <a:off x="7772400" y="3712464"/>
            <a:ext cx="3840480" cy="1371600"/>
          </a:xfrm>
          <a:prstGeom prst="roundRect">
            <a:avLst>
              <a:gd name="adj" fmla="val 3333"/>
            </a:avLst>
          </a:prstGeom>
          <a:solidFill>
            <a:srgbClr val="F3F7F5"/>
          </a:solidFill>
          <a:ln w="12700">
            <a:solidFill>
              <a:srgbClr val="DEE8E3"/>
            </a:solidFill>
            <a:prstDash val="solid"/>
          </a:ln>
          <a:effectLst>
            <a:outerShdw sx="100000" sy="100000" kx="0" ky="0" algn="bl" rotWithShape="0" blurRad="76200" dist="12700" dir="5400000">
              <a:srgbClr val="BFCFC8">
                <a:alpha val="45000"/>
              </a:srgbClr>
            </a:outerShdw>
          </a:effectLst>
        </p:spPr>
      </p:sp>
      <p:sp>
        <p:nvSpPr>
          <p:cNvPr id="47" name="Shape 45"/>
          <p:cNvSpPr/>
          <p:nvPr/>
        </p:nvSpPr>
        <p:spPr>
          <a:xfrm>
            <a:off x="7918704" y="3840480"/>
            <a:ext cx="603504" cy="246888"/>
          </a:xfrm>
          <a:prstGeom prst="roundRect">
            <a:avLst>
              <a:gd name="adj" fmla="val 22222"/>
            </a:avLst>
          </a:prstGeom>
          <a:solidFill>
            <a:srgbClr val="31708A"/>
          </a:solidFill>
          <a:ln w="12700">
            <a:solidFill>
              <a:srgbClr val="31708A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7918704" y="3840480"/>
            <a:ext cx="603504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I/O</a:t>
            </a:r>
            <a:endParaRPr lang="en-US" sz="900" dirty="0"/>
          </a:p>
        </p:txBody>
      </p:sp>
      <p:sp>
        <p:nvSpPr>
          <p:cNvPr id="49" name="Text 47"/>
          <p:cNvSpPr/>
          <p:nvPr/>
        </p:nvSpPr>
        <p:spPr>
          <a:xfrm>
            <a:off x="8631936" y="3803904"/>
            <a:ext cx="2834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A2E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Wejścia i wyjścia</a:t>
            </a:r>
            <a:endParaRPr lang="en-US" sz="1300" dirty="0"/>
          </a:p>
        </p:txBody>
      </p:sp>
      <p:sp>
        <p:nvSpPr>
          <p:cNvPr id="50" name="Text 48"/>
          <p:cNvSpPr/>
          <p:nvPr/>
        </p:nvSpPr>
        <p:spPr>
          <a:xfrm>
            <a:off x="7918704" y="4151376"/>
            <a:ext cx="3547872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950" b="1" dirty="0">
                <a:solidFill>
                  <a:srgbClr val="1624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.xlsx</a:t>
            </a:r>
            <a:pPr indent="0" marL="0">
              <a:lnSpc>
                <a:spcPct val="108000"/>
              </a:lnSpc>
              <a:buNone/>
            </a:pPr>
            <a:r>
              <a:rPr lang="en-US" sz="950" dirty="0">
                <a:solidFill>
                  <a:srgbClr val="5F72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import pracowników i sprintów, eksport raportów (exceljs)</a:t>
            </a:r>
            <a:endParaRPr lang="en-US" sz="95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950" b="1" dirty="0">
                <a:solidFill>
                  <a:srgbClr val="1624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SMTP</a:t>
            </a:r>
            <a:pPr indent="0" marL="0">
              <a:lnSpc>
                <a:spcPct val="108000"/>
              </a:lnSpc>
              <a:buNone/>
            </a:pPr>
            <a:r>
              <a:rPr lang="en-US" sz="950" dirty="0">
                <a:solidFill>
                  <a:srgbClr val="5F72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powiadomienia liderów, przypomnienia o zaległym urlopie (nodemailer)</a:t>
            </a:r>
            <a:endParaRPr lang="en-US" sz="95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950" b="1" dirty="0">
                <a:solidFill>
                  <a:srgbClr val="1624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iCal</a:t>
            </a:r>
            <a:pPr indent="0" marL="0">
              <a:lnSpc>
                <a:spcPct val="108000"/>
              </a:lnSpc>
              <a:buNone/>
            </a:pPr>
            <a:r>
              <a:rPr lang="en-US" sz="950" dirty="0">
                <a:solidFill>
                  <a:srgbClr val="5F72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subskrypcja kalendarza; kanał zespołu bez typu nieobecności</a:t>
            </a:r>
            <a:endParaRPr lang="en-US" sz="950" dirty="0"/>
          </a:p>
        </p:txBody>
      </p:sp>
      <p:sp>
        <p:nvSpPr>
          <p:cNvPr id="51" name="Shape 49"/>
          <p:cNvSpPr/>
          <p:nvPr/>
        </p:nvSpPr>
        <p:spPr>
          <a:xfrm>
            <a:off x="7772400" y="5303520"/>
            <a:ext cx="3840480" cy="731520"/>
          </a:xfrm>
          <a:prstGeom prst="roundRect">
            <a:avLst>
              <a:gd name="adj" fmla="val 6250"/>
            </a:avLst>
          </a:prstGeom>
          <a:solidFill>
            <a:srgbClr val="F3F7F5"/>
          </a:solidFill>
          <a:ln w="12700">
            <a:solidFill>
              <a:srgbClr val="DEE8E3"/>
            </a:solidFill>
            <a:prstDash val="solid"/>
          </a:ln>
          <a:effectLst>
            <a:outerShdw sx="100000" sy="100000" kx="0" ky="0" algn="bl" rotWithShape="0" blurRad="76200" dist="12700" dir="5400000">
              <a:srgbClr val="BFCFC8">
                <a:alpha val="45000"/>
              </a:srgbClr>
            </a:outerShdw>
          </a:effectLst>
        </p:spPr>
      </p:sp>
      <p:sp>
        <p:nvSpPr>
          <p:cNvPr id="52" name="Shape 50"/>
          <p:cNvSpPr/>
          <p:nvPr/>
        </p:nvSpPr>
        <p:spPr>
          <a:xfrm>
            <a:off x="7918704" y="5449824"/>
            <a:ext cx="603504" cy="246888"/>
          </a:xfrm>
          <a:prstGeom prst="roundRect">
            <a:avLst>
              <a:gd name="adj" fmla="val 22222"/>
            </a:avLst>
          </a:prstGeom>
          <a:solidFill>
            <a:srgbClr val="31708A"/>
          </a:solidFill>
          <a:ln w="12700">
            <a:solidFill>
              <a:srgbClr val="31708A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7918704" y="5449824"/>
            <a:ext cx="603504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OPS</a:t>
            </a:r>
            <a:endParaRPr lang="en-US" sz="900" dirty="0"/>
          </a:p>
        </p:txBody>
      </p:sp>
      <p:sp>
        <p:nvSpPr>
          <p:cNvPr id="54" name="Text 52"/>
          <p:cNvSpPr/>
          <p:nvPr/>
        </p:nvSpPr>
        <p:spPr>
          <a:xfrm>
            <a:off x="8631936" y="5394960"/>
            <a:ext cx="2834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A2E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Wdrożenie on-premise</a:t>
            </a:r>
            <a:endParaRPr lang="en-US" sz="1250" dirty="0"/>
          </a:p>
        </p:txBody>
      </p:sp>
      <p:sp>
        <p:nvSpPr>
          <p:cNvPr id="55" name="Text 53"/>
          <p:cNvSpPr/>
          <p:nvPr/>
        </p:nvSpPr>
        <p:spPr>
          <a:xfrm>
            <a:off x="7918704" y="5650992"/>
            <a:ext cx="35478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F72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Caddy (TLS) · docker compose · backup pg_dump · CI</a:t>
            </a:r>
            <a:endParaRPr lang="en-US" sz="950" dirty="0"/>
          </a:p>
        </p:txBody>
      </p:sp>
      <p:sp>
        <p:nvSpPr>
          <p:cNvPr id="56" name="Text 54"/>
          <p:cNvSpPr/>
          <p:nvPr/>
        </p:nvSpPr>
        <p:spPr>
          <a:xfrm>
            <a:off x="548640" y="6199632"/>
            <a:ext cx="11064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07A5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</a:t>
            </a:r>
            <a:pPr indent="0" marL="0">
              <a:buNone/>
            </a:pPr>
            <a:r>
              <a:rPr lang="en-US" sz="1050" dirty="0">
                <a:solidFill>
                  <a:srgbClr val="5F72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testów silnika   ·   </a:t>
            </a:r>
            <a:pPr indent="0" marL="0">
              <a:buNone/>
            </a:pPr>
            <a:r>
              <a:rPr lang="en-US" sz="1050" b="1" dirty="0">
                <a:solidFill>
                  <a:srgbClr val="007A5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</a:t>
            </a:r>
            <a:pPr indent="0" marL="0">
              <a:buNone/>
            </a:pPr>
            <a:r>
              <a:rPr lang="en-US" sz="1050" dirty="0">
                <a:solidFill>
                  <a:srgbClr val="5F72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suit integracyjnych (170 asercji)   ·   </a:t>
            </a:r>
            <a:pPr indent="0" marL="0">
              <a:buNone/>
            </a:pPr>
            <a:r>
              <a:rPr lang="en-US" sz="1050" b="1" dirty="0">
                <a:solidFill>
                  <a:srgbClr val="007A5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59</a:t>
            </a:r>
            <a:pPr indent="0" marL="0">
              <a:buNone/>
            </a:pPr>
            <a:r>
              <a:rPr lang="en-US" sz="1050" dirty="0">
                <a:solidFill>
                  <a:srgbClr val="5F72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endpointów   ·   </a:t>
            </a:r>
            <a:pPr indent="0" marL="0">
              <a:buNone/>
            </a:pPr>
            <a:r>
              <a:rPr lang="en-US" sz="1050" b="1" dirty="0">
                <a:solidFill>
                  <a:srgbClr val="007A5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pPr indent="0" marL="0">
              <a:buNone/>
            </a:pPr>
            <a:r>
              <a:rPr lang="en-US" sz="1050" dirty="0">
                <a:solidFill>
                  <a:srgbClr val="5F72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modeli danych   ·   </a:t>
            </a:r>
            <a:pPr indent="0" marL="0">
              <a:buNone/>
            </a:pPr>
            <a:r>
              <a:rPr lang="en-US" sz="1050" b="1" dirty="0">
                <a:solidFill>
                  <a:srgbClr val="007A5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pPr indent="0" marL="0">
              <a:buNone/>
            </a:pPr>
            <a:r>
              <a:rPr lang="en-US" sz="1050" dirty="0">
                <a:solidFill>
                  <a:srgbClr val="5F72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ekranów</a:t>
            </a:r>
            <a:endParaRPr lang="en-US" sz="10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8595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0A2E2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Stack technologiczny</a:t>
            </a:r>
            <a:endParaRPr lang="en-US" sz="2900" dirty="0"/>
          </a:p>
        </p:txBody>
      </p:sp>
      <p:sp>
        <p:nvSpPr>
          <p:cNvPr id="3" name="Text 1"/>
          <p:cNvSpPr/>
          <p:nvPr/>
        </p:nvSpPr>
        <p:spPr>
          <a:xfrm>
            <a:off x="548640" y="859536"/>
            <a:ext cx="8595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F72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Jeden język od bazy po interfejs · każda zależność dobrana pod konkretną potrzebę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548640" y="1225296"/>
            <a:ext cx="3514344" cy="1737360"/>
          </a:xfrm>
          <a:prstGeom prst="roundRect">
            <a:avLst>
              <a:gd name="adj" fmla="val 2632"/>
            </a:avLst>
          </a:prstGeom>
          <a:solidFill>
            <a:srgbClr val="F3F7F5"/>
          </a:solidFill>
          <a:ln w="12700">
            <a:solidFill>
              <a:srgbClr val="DEE8E3"/>
            </a:solidFill>
            <a:prstDash val="solid"/>
          </a:ln>
          <a:effectLst>
            <a:outerShdw sx="100000" sy="100000" kx="0" ky="0" algn="bl" rotWithShape="0" blurRad="76200" dist="12700" dir="5400000">
              <a:srgbClr val="BFCFC8">
                <a:alpha val="4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94944" y="1371600"/>
            <a:ext cx="603504" cy="246888"/>
          </a:xfrm>
          <a:prstGeom prst="roundRect">
            <a:avLst>
              <a:gd name="adj" fmla="val 22222"/>
            </a:avLst>
          </a:prstGeom>
          <a:solidFill>
            <a:srgbClr val="007A53"/>
          </a:solidFill>
          <a:ln w="12700">
            <a:solidFill>
              <a:srgbClr val="007A5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94944" y="1371600"/>
            <a:ext cx="603504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BAZA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408176" y="1353312"/>
            <a:ext cx="25085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A2E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Język i narzędzia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94944" y="1719072"/>
            <a:ext cx="3221736" cy="11155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050" b="1" dirty="0">
                <a:solidFill>
                  <a:srgbClr val="1624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TypeScript 5.6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5F72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front, backend i silnik w jednym języku</a:t>
            </a:r>
            <a:endParaRPr lang="en-US" sz="10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050" b="1" dirty="0">
                <a:solidFill>
                  <a:srgbClr val="1624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Node 22 · pnpm 10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5F72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monorepo na workspaces</a:t>
            </a:r>
            <a:endParaRPr lang="en-US" sz="10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050" b="1" dirty="0">
                <a:solidFill>
                  <a:srgbClr val="1624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Vitest 2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5F72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27 testów silnika wyliczeń</a:t>
            </a:r>
            <a:endParaRPr lang="en-US" sz="10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050" b="1" dirty="0">
                <a:solidFill>
                  <a:srgbClr val="1624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ESLint + jsx-a11y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5F72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reguły także dla dostępności</a:t>
            </a:r>
            <a:endParaRPr lang="en-US" sz="10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050" b="1" dirty="0">
                <a:solidFill>
                  <a:srgbClr val="1624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Zero `any`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5F72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pełne typowanie w trzech pakietach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4337304" y="1225296"/>
            <a:ext cx="3514344" cy="1737360"/>
          </a:xfrm>
          <a:prstGeom prst="roundRect">
            <a:avLst>
              <a:gd name="adj" fmla="val 2632"/>
            </a:avLst>
          </a:prstGeom>
          <a:solidFill>
            <a:srgbClr val="F3F7F5"/>
          </a:solidFill>
          <a:ln w="12700">
            <a:solidFill>
              <a:srgbClr val="DEE8E3"/>
            </a:solidFill>
            <a:prstDash val="solid"/>
          </a:ln>
          <a:effectLst>
            <a:outerShdw sx="100000" sy="100000" kx="0" ky="0" algn="bl" rotWithShape="0" blurRad="76200" dist="12700" dir="5400000">
              <a:srgbClr val="BFCFC8">
                <a:alpha val="45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483608" y="1371600"/>
            <a:ext cx="603504" cy="246888"/>
          </a:xfrm>
          <a:prstGeom prst="roundRect">
            <a:avLst>
              <a:gd name="adj" fmla="val 22222"/>
            </a:avLst>
          </a:prstGeom>
          <a:solidFill>
            <a:srgbClr val="007A53"/>
          </a:solidFill>
          <a:ln w="12700">
            <a:solidFill>
              <a:srgbClr val="007A53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483608" y="1371600"/>
            <a:ext cx="603504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5196840" y="1353312"/>
            <a:ext cx="25085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A2E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Frontend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4483608" y="1719072"/>
            <a:ext cx="3221736" cy="11155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050" b="1" dirty="0">
                <a:solidFill>
                  <a:srgbClr val="1624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React 18 + Vite 6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5F72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szybki dev server, build statyczny</a:t>
            </a:r>
            <a:endParaRPr lang="en-US" sz="10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050" b="1" dirty="0">
                <a:solidFill>
                  <a:srgbClr val="1624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react-router 6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5F72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trasy generowane z uprawnień roli</a:t>
            </a:r>
            <a:endParaRPr lang="en-US" sz="10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050" b="1" dirty="0">
                <a:solidFill>
                  <a:srgbClr val="1624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lucide-react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5F72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ikony spójne z prototypem</a:t>
            </a:r>
            <a:endParaRPr lang="en-US" sz="10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050" b="1" dirty="0">
                <a:solidFill>
                  <a:srgbClr val="1624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Bez biblioteki stanu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5F72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fetch + stan komponentu wystarcza</a:t>
            </a:r>
            <a:endParaRPr lang="en-US" sz="10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050" b="1" dirty="0">
                <a:solidFill>
                  <a:srgbClr val="1624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Tryb jasny i ciemny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5F72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motyw przełączany w topbarze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8125968" y="1225296"/>
            <a:ext cx="3514344" cy="1737360"/>
          </a:xfrm>
          <a:prstGeom prst="roundRect">
            <a:avLst>
              <a:gd name="adj" fmla="val 2632"/>
            </a:avLst>
          </a:prstGeom>
          <a:solidFill>
            <a:srgbClr val="F3F7F5"/>
          </a:solidFill>
          <a:ln w="12700">
            <a:solidFill>
              <a:srgbClr val="DEE8E3"/>
            </a:solidFill>
            <a:prstDash val="solid"/>
          </a:ln>
          <a:effectLst>
            <a:outerShdw sx="100000" sy="100000" kx="0" ky="0" algn="bl" rotWithShape="0" blurRad="76200" dist="12700" dir="5400000">
              <a:srgbClr val="BFCFC8">
                <a:alpha val="45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8272272" y="1371600"/>
            <a:ext cx="603504" cy="246888"/>
          </a:xfrm>
          <a:prstGeom prst="roundRect">
            <a:avLst>
              <a:gd name="adj" fmla="val 22222"/>
            </a:avLst>
          </a:prstGeom>
          <a:solidFill>
            <a:srgbClr val="007A53"/>
          </a:solidFill>
          <a:ln w="12700">
            <a:solidFill>
              <a:srgbClr val="007A53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272272" y="1371600"/>
            <a:ext cx="603504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8985504" y="1353312"/>
            <a:ext cx="25085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A2E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Backend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8272272" y="1719072"/>
            <a:ext cx="3221736" cy="11155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050" b="1" dirty="0">
                <a:solidFill>
                  <a:srgbClr val="1624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NestJS 10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5F72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moduły odwzorowują epiki z backlogu</a:t>
            </a:r>
            <a:endParaRPr lang="en-US" sz="10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050" b="1" dirty="0">
                <a:solidFill>
                  <a:srgbClr val="1624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class-validator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5F72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walidacja DTO na wejściu</a:t>
            </a:r>
            <a:endParaRPr lang="en-US" sz="10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050" b="1" dirty="0">
                <a:solidFill>
                  <a:srgbClr val="1624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helmet · throttler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5F72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nagłówki i limit żądań</a:t>
            </a:r>
            <a:endParaRPr lang="en-US" sz="10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050" b="1" dirty="0">
                <a:solidFill>
                  <a:srgbClr val="1624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jsonwebtoken · scrypt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5F72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sesje i hasła (node:crypto)</a:t>
            </a:r>
            <a:endParaRPr lang="en-US" sz="10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050" b="1" dirty="0">
                <a:solidFill>
                  <a:srgbClr val="1624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@nestjs/schedule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5F72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cron: przypomnienia, retencja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548640" y="3255264"/>
            <a:ext cx="3514344" cy="1737360"/>
          </a:xfrm>
          <a:prstGeom prst="roundRect">
            <a:avLst>
              <a:gd name="adj" fmla="val 2632"/>
            </a:avLst>
          </a:prstGeom>
          <a:solidFill>
            <a:srgbClr val="F3F7F5"/>
          </a:solidFill>
          <a:ln w="12700">
            <a:solidFill>
              <a:srgbClr val="DEE8E3"/>
            </a:solidFill>
            <a:prstDash val="solid"/>
          </a:ln>
          <a:effectLst>
            <a:outerShdw sx="100000" sy="100000" kx="0" ky="0" algn="bl" rotWithShape="0" blurRad="76200" dist="12700" dir="5400000">
              <a:srgbClr val="BFCFC8">
                <a:alpha val="45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694944" y="3401568"/>
            <a:ext cx="603504" cy="246888"/>
          </a:xfrm>
          <a:prstGeom prst="roundRect">
            <a:avLst>
              <a:gd name="adj" fmla="val 22222"/>
            </a:avLst>
          </a:prstGeom>
          <a:solidFill>
            <a:srgbClr val="31708A"/>
          </a:solidFill>
          <a:ln w="12700">
            <a:solidFill>
              <a:srgbClr val="31708A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94944" y="3401568"/>
            <a:ext cx="603504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DB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1408176" y="3383280"/>
            <a:ext cx="25085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A2E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Dane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694944" y="3749040"/>
            <a:ext cx="3221736" cy="11155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050" b="1" dirty="0">
                <a:solidFill>
                  <a:srgbClr val="1624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PostgreSQL 16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5F72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MVCC — równoczesny zapis bez blokad</a:t>
            </a:r>
            <a:endParaRPr lang="en-US" sz="10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050" b="1" dirty="0">
                <a:solidFill>
                  <a:srgbClr val="1624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Prisma 6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5F72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schemat, migracje, typy z bazy</a:t>
            </a:r>
            <a:endParaRPr lang="en-US" sz="10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050" b="1" dirty="0">
                <a:solidFill>
                  <a:srgbClr val="1624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 modeli · 6 enumów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5F72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drzewo jednostek, wiele-do-wielu</a:t>
            </a:r>
            <a:endParaRPr lang="en-US" sz="10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050" b="1" dirty="0">
                <a:solidFill>
                  <a:srgbClr val="1624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pg_dump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5F72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backup z timerem systemd</a:t>
            </a:r>
            <a:endParaRPr lang="en-US" sz="10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050" b="1" dirty="0">
                <a:solidFill>
                  <a:srgbClr val="1624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Seed i dane demo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5F72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skrypty odtwarzają stan aplikacji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4337304" y="3255264"/>
            <a:ext cx="3514344" cy="1737360"/>
          </a:xfrm>
          <a:prstGeom prst="roundRect">
            <a:avLst>
              <a:gd name="adj" fmla="val 2632"/>
            </a:avLst>
          </a:prstGeom>
          <a:solidFill>
            <a:srgbClr val="F3F7F5"/>
          </a:solidFill>
          <a:ln w="12700">
            <a:solidFill>
              <a:srgbClr val="DEE8E3"/>
            </a:solidFill>
            <a:prstDash val="solid"/>
          </a:ln>
          <a:effectLst>
            <a:outerShdw sx="100000" sy="100000" kx="0" ky="0" algn="bl" rotWithShape="0" blurRad="76200" dist="12700" dir="5400000">
              <a:srgbClr val="BFCFC8">
                <a:alpha val="45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4483608" y="3401568"/>
            <a:ext cx="603504" cy="246888"/>
          </a:xfrm>
          <a:prstGeom prst="roundRect">
            <a:avLst>
              <a:gd name="adj" fmla="val 22222"/>
            </a:avLst>
          </a:prstGeom>
          <a:solidFill>
            <a:srgbClr val="31708A"/>
          </a:solidFill>
          <a:ln w="12700">
            <a:solidFill>
              <a:srgbClr val="31708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483608" y="3401568"/>
            <a:ext cx="603504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I/O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5196840" y="3383280"/>
            <a:ext cx="25085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A2E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Formaty i integracje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4483608" y="3749040"/>
            <a:ext cx="3221736" cy="11155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050" b="1" dirty="0">
                <a:solidFill>
                  <a:srgbClr val="1624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exceljs 4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5F72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import pracowników i sprintów, eksport</a:t>
            </a:r>
            <a:endParaRPr lang="en-US" sz="10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050" b="1" dirty="0">
                <a:solidFill>
                  <a:srgbClr val="1624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nodemailer 9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5F72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powiadomienia i przypomnienia przez SMTP</a:t>
            </a:r>
            <a:endParaRPr lang="en-US" sz="10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050" b="1" dirty="0">
                <a:solidFill>
                  <a:srgbClr val="1624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iCal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5F72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własny generator w core, bez zależności</a:t>
            </a:r>
            <a:endParaRPr lang="en-US" sz="10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050" b="1" dirty="0">
                <a:solidFill>
                  <a:srgbClr val="1624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Brak integracji zewnętrznych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5F72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szew AuthProvider gotowy pod SSO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8125968" y="3255264"/>
            <a:ext cx="3514344" cy="1737360"/>
          </a:xfrm>
          <a:prstGeom prst="roundRect">
            <a:avLst>
              <a:gd name="adj" fmla="val 2632"/>
            </a:avLst>
          </a:prstGeom>
          <a:solidFill>
            <a:srgbClr val="F3F7F5"/>
          </a:solidFill>
          <a:ln w="12700">
            <a:solidFill>
              <a:srgbClr val="DEE8E3"/>
            </a:solidFill>
            <a:prstDash val="solid"/>
          </a:ln>
          <a:effectLst>
            <a:outerShdw sx="100000" sy="100000" kx="0" ky="0" algn="bl" rotWithShape="0" blurRad="76200" dist="12700" dir="5400000">
              <a:srgbClr val="BFCFC8">
                <a:alpha val="45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8272272" y="3401568"/>
            <a:ext cx="603504" cy="246888"/>
          </a:xfrm>
          <a:prstGeom prst="roundRect">
            <a:avLst>
              <a:gd name="adj" fmla="val 22222"/>
            </a:avLst>
          </a:prstGeom>
          <a:solidFill>
            <a:srgbClr val="31708A"/>
          </a:solidFill>
          <a:ln w="12700">
            <a:solidFill>
              <a:srgbClr val="31708A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8272272" y="3401568"/>
            <a:ext cx="603504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OPS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8985504" y="3383280"/>
            <a:ext cx="25085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A2E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Uruchomienie</a:t>
            </a:r>
            <a:endParaRPr lang="en-US" sz="1300" dirty="0"/>
          </a:p>
        </p:txBody>
      </p:sp>
      <p:sp>
        <p:nvSpPr>
          <p:cNvPr id="33" name="Text 31"/>
          <p:cNvSpPr/>
          <p:nvPr/>
        </p:nvSpPr>
        <p:spPr>
          <a:xfrm>
            <a:off x="8272272" y="3749040"/>
            <a:ext cx="3221736" cy="11155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050" b="1" dirty="0">
                <a:solidFill>
                  <a:srgbClr val="1624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Docker Compose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5F72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node:22-slim + postgres:16</a:t>
            </a:r>
            <a:endParaRPr lang="en-US" sz="10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050" b="1" dirty="0">
                <a:solidFill>
                  <a:srgbClr val="1624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Caddy 2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5F72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TLS z automatycznym certyfikatem</a:t>
            </a:r>
            <a:endParaRPr lang="en-US" sz="10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050" b="1" dirty="0">
                <a:solidFill>
                  <a:srgbClr val="1624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 Actions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5F72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te same kroki co lokalna weryfikacja</a:t>
            </a:r>
            <a:endParaRPr lang="en-US" sz="10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050" b="1" dirty="0">
                <a:solidFill>
                  <a:srgbClr val="1624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On-premise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5F72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jedna maszyna, bez chmury</a:t>
            </a:r>
            <a:endParaRPr lang="en-US" sz="10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050" b="1" dirty="0">
                <a:solidFill>
                  <a:srgbClr val="1624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/api/health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5F72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sonda dla monitoringu (NFR-2)</a:t>
            </a:r>
            <a:endParaRPr lang="en-US" sz="1050" dirty="0"/>
          </a:p>
        </p:txBody>
      </p:sp>
      <p:sp>
        <p:nvSpPr>
          <p:cNvPr id="34" name="Shape 32"/>
          <p:cNvSpPr/>
          <p:nvPr/>
        </p:nvSpPr>
        <p:spPr>
          <a:xfrm>
            <a:off x="548640" y="5340096"/>
            <a:ext cx="11091672" cy="923544"/>
          </a:xfrm>
          <a:prstGeom prst="roundRect">
            <a:avLst>
              <a:gd name="adj" fmla="val 4950"/>
            </a:avLst>
          </a:prstGeom>
          <a:solidFill>
            <a:srgbClr val="F3F7F5"/>
          </a:solidFill>
          <a:ln w="12700">
            <a:solidFill>
              <a:srgbClr val="DEE8E3"/>
            </a:solidFill>
            <a:prstDash val="solid"/>
          </a:ln>
          <a:effectLst>
            <a:outerShdw sx="100000" sy="100000" kx="0" ky="0" algn="bl" rotWithShape="0" blurRad="76200" dist="12700" dir="5400000">
              <a:srgbClr val="BFCFC8">
                <a:alpha val="45000"/>
              </a:srgbClr>
            </a:outerShdw>
          </a:effectLst>
        </p:spPr>
      </p:sp>
      <p:sp>
        <p:nvSpPr>
          <p:cNvPr id="35" name="Text 33"/>
          <p:cNvSpPr/>
          <p:nvPr/>
        </p:nvSpPr>
        <p:spPr>
          <a:xfrm>
            <a:off x="731520" y="5468112"/>
            <a:ext cx="2194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7A5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Świadomie pominięte</a:t>
            </a:r>
            <a:endParaRPr lang="en-US" sz="1250" dirty="0"/>
          </a:p>
        </p:txBody>
      </p:sp>
      <p:sp>
        <p:nvSpPr>
          <p:cNvPr id="36" name="Text 34"/>
          <p:cNvSpPr/>
          <p:nvPr/>
        </p:nvSpPr>
        <p:spPr>
          <a:xfrm>
            <a:off x="3017520" y="5486400"/>
            <a:ext cx="84399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050" b="1" dirty="0">
                <a:solidFill>
                  <a:srgbClr val="1624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WebSockety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5F72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odświeżenie po zapisie daje licznik &lt;1 s.   </a:t>
            </a:r>
            <a:pPr indent="0" marL="0">
              <a:lnSpc>
                <a:spcPct val="112000"/>
              </a:lnSpc>
              <a:buNone/>
            </a:pPr>
            <a:r>
              <a:rPr lang="en-US" sz="1050" b="1" dirty="0">
                <a:solidFill>
                  <a:srgbClr val="1624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Redis i kolejki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5F72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scheduler Nest wystarcza przy 300 użytkownikach.   </a:t>
            </a:r>
            <a:pPr indent="0" marL="0">
              <a:lnSpc>
                <a:spcPct val="112000"/>
              </a:lnSpc>
              <a:buNone/>
            </a:pPr>
            <a:r>
              <a:rPr lang="en-US" sz="1050" b="1" dirty="0">
                <a:solidFill>
                  <a:srgbClr val="1624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Mikroserwisy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5F72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jeden monolit API skaluje się w tej skali.</a:t>
            </a:r>
            <a:endParaRPr lang="en-US" sz="10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050" b="1" dirty="0">
                <a:solidFill>
                  <a:srgbClr val="1624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AD/SSO, TETA, JIRA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5F72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poza zakresem tej wersji; w kodzie czeka szew AuthProvider, więc dołożenie OIDC nie wymaga przebudowy.</a:t>
            </a:r>
            <a:endParaRPr lang="en-US" sz="10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Architektura aplikacji Nieobecności</dc:title>
  <dc:subject>PptxGenJS Presentation</dc:subject>
  <dc:creator>Nieobecności</dc:creator>
  <cp:lastModifiedBy>Nieobecności</cp:lastModifiedBy>
  <cp:revision>1</cp:revision>
  <dcterms:created xsi:type="dcterms:W3CDTF">2026-08-07T10:08:05Z</dcterms:created>
  <dcterms:modified xsi:type="dcterms:W3CDTF">2026-08-07T10:08:05Z</dcterms:modified>
</cp:coreProperties>
</file>