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Architektura aplikacji Nieobecności. Przepływ: przeglądarka (6 ról) → frontend React → API NestJS za guardem JWT/RBAC → PostgreSQL przez Prisma. Silnik wyliczeń w packages/core jest wydzielony jako czyste funkcje bez zależności i używany przez API — tam leżą reguły okresów rozliczeniowych UoP vs B2B, dni robocze, balans i capacity, pokryte 27 testami. Ochrona L4 jako danej o zdrowiu (art. 9 RODO) jest egzekwowana po stronie serwera: znacznik widzi tylko rola uprawniona, a każdy odczyt trafia do audytu.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2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Architektura aplikacji „Nieobecności”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end-to-end · monorepo pnpm · wdrożenie on-premise · ~300 użytkowników, 6 zespołów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6858000" cy="566928"/>
          </a:xfrm>
          <a:prstGeom prst="roundRect">
            <a:avLst>
              <a:gd name="adj" fmla="val 8065"/>
            </a:avLst>
          </a:prstGeom>
          <a:solidFill>
            <a:srgbClr val="F3F7F5"/>
          </a:solidFill>
          <a:ln w="12700">
            <a:solidFill>
              <a:srgbClr val="DEE8E3"/>
            </a:solidFill>
            <a:prstDash val="solid"/>
          </a:ln>
          <a:effectLst>
            <a:outerShdw sx="100000" sy="100000" kx="0" ky="0" algn="bl" rotWithShape="0" blurRad="76200" dist="12700" dir="5400000">
              <a:srgbClr val="BFCFC8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1280160"/>
            <a:ext cx="603504" cy="246888"/>
          </a:xfrm>
          <a:prstGeom prst="roundRect">
            <a:avLst>
              <a:gd name="adj" fmla="val 22222"/>
            </a:avLst>
          </a:prstGeom>
          <a:solidFill>
            <a:srgbClr val="007A53"/>
          </a:solidFill>
          <a:ln w="12700">
            <a:solidFill>
              <a:srgbClr val="007A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1280160"/>
            <a:ext cx="6035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08176" y="1225296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Pracownik · PO · Lider · Dyrektor · PMO · Administrator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08176" y="1444752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Nawigacja, pickery i zakres danych zawężone do uprawnień zalogowanego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977640" y="1755648"/>
            <a:ext cx="0" cy="164592"/>
          </a:xfrm>
          <a:prstGeom prst="line">
            <a:avLst/>
          </a:prstGeom>
          <a:noFill/>
          <a:ln w="22225">
            <a:solidFill>
              <a:srgbClr val="9BB0A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" y="1956816"/>
            <a:ext cx="6858000" cy="1042416"/>
          </a:xfrm>
          <a:prstGeom prst="roundRect">
            <a:avLst>
              <a:gd name="adj" fmla="val 4386"/>
            </a:avLst>
          </a:prstGeom>
          <a:solidFill>
            <a:srgbClr val="F3F7F5"/>
          </a:solidFill>
          <a:ln w="12700">
            <a:solidFill>
              <a:srgbClr val="DEE8E3"/>
            </a:solidFill>
            <a:prstDash val="solid"/>
          </a:ln>
          <a:effectLst>
            <a:outerShdw sx="100000" sy="100000" kx="0" ky="0" algn="bl" rotWithShape="0" blurRad="76200" dist="12700" dir="5400000">
              <a:srgbClr val="BFCFC8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94944" y="2084832"/>
            <a:ext cx="603504" cy="246888"/>
          </a:xfrm>
          <a:prstGeom prst="roundRect">
            <a:avLst>
              <a:gd name="adj" fmla="val 22222"/>
            </a:avLst>
          </a:prstGeom>
          <a:solidFill>
            <a:srgbClr val="007A53"/>
          </a:solidFill>
          <a:ln w="12700">
            <a:solidFill>
              <a:srgbClr val="007A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2084832"/>
            <a:ext cx="6035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08176" y="2048256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apps/web — React + Vite + TypeScript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08176" y="2304288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ekranów · react-router · design system przeniesiony z prototypu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+ IBM Plex Mono, ikony Lucide, tryb jasny/ciemny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977640" y="3017520"/>
            <a:ext cx="0" cy="164592"/>
          </a:xfrm>
          <a:prstGeom prst="line">
            <a:avLst/>
          </a:prstGeom>
          <a:noFill/>
          <a:ln w="22225">
            <a:solidFill>
              <a:srgbClr val="9BB0A7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4105656" y="29992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JSON  ·  Bearer JWT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3218688"/>
            <a:ext cx="6858000" cy="1865376"/>
          </a:xfrm>
          <a:prstGeom prst="roundRect">
            <a:avLst>
              <a:gd name="adj" fmla="val 2451"/>
            </a:avLst>
          </a:prstGeom>
          <a:solidFill>
            <a:srgbClr val="F3F7F5"/>
          </a:solidFill>
          <a:ln w="12700">
            <a:solidFill>
              <a:srgbClr val="DEE8E3"/>
            </a:solidFill>
            <a:prstDash val="solid"/>
          </a:ln>
          <a:effectLst>
            <a:outerShdw sx="100000" sy="100000" kx="0" ky="0" algn="bl" rotWithShape="0" blurRad="76200" dist="12700" dir="5400000">
              <a:srgbClr val="BFCFC8">
                <a:alpha val="4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4944" y="3346704"/>
            <a:ext cx="603504" cy="246888"/>
          </a:xfrm>
          <a:prstGeom prst="roundRect">
            <a:avLst>
              <a:gd name="adj" fmla="val 22222"/>
            </a:avLst>
          </a:prstGeom>
          <a:solidFill>
            <a:srgbClr val="007A53"/>
          </a:solidFill>
          <a:ln w="12700">
            <a:solidFill>
              <a:srgbClr val="007A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" y="3346704"/>
            <a:ext cx="6035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408176" y="33101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apps/api — NestJS + Prisma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94944" y="3639312"/>
            <a:ext cx="204216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DEE8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3712464"/>
            <a:ext cx="1822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JWT + RBAC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04672" y="3950208"/>
            <a:ext cx="1822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Hasła scrypt, helmet, throttler.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ról + uprawnienia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MODIFY_ABSENCE, VIEW_L4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956560" y="3639312"/>
            <a:ext cx="204216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DEE8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66288" y="3712464"/>
            <a:ext cx="1822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endpointów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066288" y="3950208"/>
            <a:ext cx="1822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kontrolerów, walidacja DTO.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Serializacja i zakres danych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liczone per rola.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218176" y="3639312"/>
            <a:ext cx="204216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DEE8E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27904" y="3712464"/>
            <a:ext cx="1822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Serwisy domenowe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327904" y="3950208"/>
            <a:ext cx="1822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Balans, capacity, raporty,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import/eksport, powiadomienia,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retencja, scheduler (cron).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94944" y="4736592"/>
            <a:ext cx="6565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Ochrona L4 (art. 9 RODO): </a:t>
            </a:r>
            <a:pPr indent="0" marL="0">
              <a:buNone/>
            </a:pPr>
            <a:r>
              <a:rPr lang="en-US" sz="100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znacznik czyta wyłącznie rola uprawniona, każdy odczyt trafia do dziennika audytu; eksporty i kanały iCal nie ujawniają typu.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977640" y="5102352"/>
            <a:ext cx="0" cy="164592"/>
          </a:xfrm>
          <a:prstGeom prst="line">
            <a:avLst/>
          </a:prstGeom>
          <a:noFill/>
          <a:ln w="22225">
            <a:solidFill>
              <a:srgbClr val="9BB0A7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4105656" y="50840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5303520"/>
            <a:ext cx="6858000" cy="731520"/>
          </a:xfrm>
          <a:prstGeom prst="roundRect">
            <a:avLst>
              <a:gd name="adj" fmla="val 6250"/>
            </a:avLst>
          </a:prstGeom>
          <a:solidFill>
            <a:srgbClr val="F3F7F5"/>
          </a:solidFill>
          <a:ln w="12700">
            <a:solidFill>
              <a:srgbClr val="DEE8E3"/>
            </a:solidFill>
            <a:prstDash val="solid"/>
          </a:ln>
          <a:effectLst>
            <a:outerShdw sx="100000" sy="100000" kx="0" ky="0" algn="bl" rotWithShape="0" blurRad="76200" dist="12700" dir="5400000">
              <a:srgbClr val="BFCFC8">
                <a:alpha val="4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94944" y="5449824"/>
            <a:ext cx="603504" cy="246888"/>
          </a:xfrm>
          <a:prstGeom prst="roundRect">
            <a:avLst>
              <a:gd name="adj" fmla="val 22222"/>
            </a:avLst>
          </a:prstGeom>
          <a:solidFill>
            <a:srgbClr val="31708A"/>
          </a:solidFill>
          <a:ln w="12700">
            <a:solidFill>
              <a:srgbClr val="3170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4944" y="5449824"/>
            <a:ext cx="6035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408176" y="539496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— 13 modeli, 6 typów wyliczeniowych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408176" y="5632704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MVCC — równoczesne zapisy bez blokad pliku, czyli to, czego nie dawał Excel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772400" y="1170432"/>
            <a:ext cx="3840480" cy="2359152"/>
          </a:xfrm>
          <a:prstGeom prst="roundRect">
            <a:avLst>
              <a:gd name="adj" fmla="val 1938"/>
            </a:avLst>
          </a:prstGeom>
          <a:solidFill>
            <a:srgbClr val="F3F7F5"/>
          </a:solidFill>
          <a:ln w="12700">
            <a:solidFill>
              <a:srgbClr val="DEE8E3"/>
            </a:solidFill>
            <a:prstDash val="solid"/>
          </a:ln>
          <a:effectLst>
            <a:outerShdw sx="100000" sy="100000" kx="0" ky="0" algn="bl" rotWithShape="0" blurRad="76200" dist="12700" dir="5400000">
              <a:srgbClr val="BFCFC8">
                <a:alpha val="4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918704" y="1298448"/>
            <a:ext cx="603504" cy="246888"/>
          </a:xfrm>
          <a:prstGeom prst="roundRect">
            <a:avLst>
              <a:gd name="adj" fmla="val 22222"/>
            </a:avLst>
          </a:prstGeom>
          <a:solidFill>
            <a:srgbClr val="007A53"/>
          </a:solidFill>
          <a:ln w="12700">
            <a:solidFill>
              <a:srgbClr val="007A5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18704" y="1298448"/>
            <a:ext cx="6035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631936" y="126187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packages/core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918704" y="1609344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Silnik wyliczeń — czyste funkcje, zero zależności, niezależny od frameworka.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918704" y="2029968"/>
            <a:ext cx="354787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resolveBillingPeriod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UoP: rok kalendarzowy; B2B/OUT: budżetowy −1 mc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countWorkingDays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weekendy + kalendarz świąt osoby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· usedLeaveDays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pula, zaległe, wykorzystane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sprintCapacity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osobodni squadu w sprincie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proratePool · dayFraction · toICS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918704" y="3200400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7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testów jednostkowych — tu leży warunek akceptacji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406640" y="3383280"/>
            <a:ext cx="365760" cy="0"/>
          </a:xfrm>
          <a:prstGeom prst="line">
            <a:avLst/>
          </a:prstGeom>
          <a:noFill/>
          <a:ln w="19050">
            <a:solidFill>
              <a:srgbClr val="9BB0A7"/>
            </a:solidFill>
            <a:prstDash val="dash"/>
            <a:headEnd type="triangle"/>
          </a:ln>
        </p:spPr>
      </p:sp>
      <p:sp>
        <p:nvSpPr>
          <p:cNvPr id="46" name="Shape 44"/>
          <p:cNvSpPr/>
          <p:nvPr/>
        </p:nvSpPr>
        <p:spPr>
          <a:xfrm>
            <a:off x="7772400" y="3712464"/>
            <a:ext cx="3840480" cy="1371600"/>
          </a:xfrm>
          <a:prstGeom prst="roundRect">
            <a:avLst>
              <a:gd name="adj" fmla="val 3333"/>
            </a:avLst>
          </a:prstGeom>
          <a:solidFill>
            <a:srgbClr val="F3F7F5"/>
          </a:solidFill>
          <a:ln w="12700">
            <a:solidFill>
              <a:srgbClr val="DEE8E3"/>
            </a:solidFill>
            <a:prstDash val="solid"/>
          </a:ln>
          <a:effectLst>
            <a:outerShdw sx="100000" sy="100000" kx="0" ky="0" algn="bl" rotWithShape="0" blurRad="76200" dist="12700" dir="5400000">
              <a:srgbClr val="BFCFC8">
                <a:alpha val="4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918704" y="3840480"/>
            <a:ext cx="603504" cy="246888"/>
          </a:xfrm>
          <a:prstGeom prst="roundRect">
            <a:avLst>
              <a:gd name="adj" fmla="val 22222"/>
            </a:avLst>
          </a:prstGeom>
          <a:solidFill>
            <a:srgbClr val="31708A"/>
          </a:solidFill>
          <a:ln w="12700">
            <a:solidFill>
              <a:srgbClr val="31708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918704" y="3840480"/>
            <a:ext cx="6035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631936" y="380390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Wejścia i wyjścia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7918704" y="4151376"/>
            <a:ext cx="35478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.xlsx</a:t>
            </a:r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import pracowników i sprintów, eksport raportów (exceljs)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</a:t>
            </a:r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powiadomienia liderów, przypomnienia o zaległym urlopie (nodemailer)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iCal</a:t>
            </a:r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subskrypcja kalendarza; kanał zespołu bez typu nieobecności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772400" y="5303520"/>
            <a:ext cx="3840480" cy="731520"/>
          </a:xfrm>
          <a:prstGeom prst="roundRect">
            <a:avLst>
              <a:gd name="adj" fmla="val 6250"/>
            </a:avLst>
          </a:prstGeom>
          <a:solidFill>
            <a:srgbClr val="F3F7F5"/>
          </a:solidFill>
          <a:ln w="12700">
            <a:solidFill>
              <a:srgbClr val="DEE8E3"/>
            </a:solidFill>
            <a:prstDash val="solid"/>
          </a:ln>
          <a:effectLst>
            <a:outerShdw sx="100000" sy="100000" kx="0" ky="0" algn="bl" rotWithShape="0" blurRad="76200" dist="12700" dir="5400000">
              <a:srgbClr val="BFCFC8">
                <a:alpha val="4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7918704" y="5449824"/>
            <a:ext cx="603504" cy="246888"/>
          </a:xfrm>
          <a:prstGeom prst="roundRect">
            <a:avLst>
              <a:gd name="adj" fmla="val 22222"/>
            </a:avLst>
          </a:prstGeom>
          <a:solidFill>
            <a:srgbClr val="31708A"/>
          </a:solidFill>
          <a:ln w="12700">
            <a:solidFill>
              <a:srgbClr val="31708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18704" y="5449824"/>
            <a:ext cx="6035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631936" y="539496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Wdrożenie on-premise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7918704" y="5650992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Caddy (TLS) · docker compose · backup pg_dump · CI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48640" y="619963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pPr indent="0" marL="0">
              <a:buNone/>
            </a:pPr>
            <a:r>
              <a:rPr lang="en-US" sz="105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testów silnika   ·   </a:t>
            </a:r>
            <a:pPr indent="0" marL="0">
              <a:buNone/>
            </a:pPr>
            <a:r>
              <a:rPr lang="en-US" sz="1050" b="1" dirty="0">
                <a:solidFill>
                  <a:srgbClr val="007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pPr indent="0" marL="0">
              <a:buNone/>
            </a:pPr>
            <a:r>
              <a:rPr lang="en-US" sz="105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suit integracyjnych (170 asercji)   ·   </a:t>
            </a:r>
            <a:pPr indent="0" marL="0">
              <a:buNone/>
            </a:pPr>
            <a:r>
              <a:rPr lang="en-US" sz="1050" b="1" dirty="0">
                <a:solidFill>
                  <a:srgbClr val="007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pPr indent="0" marL="0">
              <a:buNone/>
            </a:pPr>
            <a:r>
              <a:rPr lang="en-US" sz="105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endpointów   ·   </a:t>
            </a:r>
            <a:pPr indent="0" marL="0">
              <a:buNone/>
            </a:pPr>
            <a:r>
              <a:rPr lang="en-US" sz="1050" b="1" dirty="0">
                <a:solidFill>
                  <a:srgbClr val="007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pPr indent="0" marL="0">
              <a:buNone/>
            </a:pPr>
            <a:r>
              <a:rPr lang="en-US" sz="105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modeli danych   ·   </a:t>
            </a:r>
            <a:pPr indent="0" marL="0">
              <a:buNone/>
            </a:pPr>
            <a:r>
              <a:rPr lang="en-US" sz="1050" b="1" dirty="0">
                <a:solidFill>
                  <a:srgbClr val="007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pPr indent="0" marL="0">
              <a:buNone/>
            </a:pPr>
            <a:r>
              <a:rPr lang="en-US" sz="105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ekranów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Architektura aplikacji Nieobecności</dc:title>
  <dc:subject>PptxGenJS Presentation</dc:subject>
  <dc:creator>Nieobecności</dc:creator>
  <cp:lastModifiedBy>Nieobecności</cp:lastModifiedBy>
  <cp:revision>1</cp:revision>
  <dcterms:created xsi:type="dcterms:W3CDTF">2026-08-07T09:14:39Z</dcterms:created>
  <dcterms:modified xsi:type="dcterms:W3CDTF">2026-08-07T09:14:39Z</dcterms:modified>
</cp:coreProperties>
</file>